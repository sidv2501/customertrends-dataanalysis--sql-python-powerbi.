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3453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Customer Shopping Behavior Analysis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754585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deep-dive into transactional data from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3,900 purchases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across multiple product categories — uncovering spending patterns, customer segments, product preferences, and subscription behavior to guide strategic business decisions.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8623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Dataset at a Glance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66180"/>
            <a:ext cx="3998342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3,900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720007" y="203053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Total Purchases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2298799"/>
            <a:ext cx="399834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Transactions analyzed across all categories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649465" y="1466180"/>
            <a:ext cx="3998416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873353" y="203053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Data Columns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49465" y="2298799"/>
            <a:ext cx="399841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Demographics, purchase details &amp; behavior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96119" y="2807271"/>
            <a:ext cx="3998342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$59.76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720007" y="337162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Avg. Purchase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6119" y="3639889"/>
            <a:ext cx="399834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Average transaction value across all customers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49465" y="2807271"/>
            <a:ext cx="3998416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3.75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873353" y="337162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Avg. Rating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49465" y="3639889"/>
            <a:ext cx="399841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Average review rating out of 5.0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6119" y="397787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Key features span customer demographics (Age, Gender, Location, Subscription Status), purchase details (Item, Category, Amount, Season), and shopping behavior (Discounts, Promo Codes, Purchase Frequency, Shipping Type).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7968"/>
            <a:ext cx="513159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Revenue by Gender &amp; Shipping Type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101551"/>
            <a:ext cx="4103191" cy="3513981"/>
          </a:xfrm>
          <a:prstGeom prst="roundRect">
            <a:avLst>
              <a:gd name="adj" fmla="val 2542"/>
            </a:avLst>
          </a:prstGeom>
          <a:solidFill>
            <a:srgbClr val="373B4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22552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Revenue by Gender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1543348"/>
            <a:ext cx="3855244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Male customers generated significantly more revenue than female customers across all categories.</a:t>
            </a:r>
            <a:endParaRPr lang="en-US" sz="9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796" y="2079799"/>
            <a:ext cx="3855244" cy="20227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28046" y="1225525"/>
            <a:ext cx="207645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Shipping Type vs. Avg. Spend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28046" y="1543348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Express shipping customers spend slightly more on average than Standard shipping customers — suggesting a higher-value buyer profile.</a:t>
            </a:r>
            <a:endParaRPr lang="en-US" sz="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046" y="2278261"/>
            <a:ext cx="3924598" cy="20242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33586"/>
            <a:ext cx="352566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Customer Segmentation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407170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Customers were classified into three segments based on purchase history. The data reveals a highly loyal customer base.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1943621"/>
            <a:ext cx="2299395" cy="1319585"/>
          </a:xfrm>
          <a:prstGeom prst="roundRect">
            <a:avLst>
              <a:gd name="adj" fmla="val 3948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4855" y="207235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Loyal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4855" y="2340620"/>
            <a:ext cx="204192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3,116 customers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the dominant segment, representing repeat, high-frequency buyers who form the backbone of revenue.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919487" y="1943621"/>
            <a:ext cx="2299395" cy="1319585"/>
          </a:xfrm>
          <a:prstGeom prst="roundRect">
            <a:avLst>
              <a:gd name="adj" fmla="val 3948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48223" y="207235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Returning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48223" y="2340620"/>
            <a:ext cx="204192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701 customers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shoppers who have come back but have not yet reached loyal status. A key conversion opportunity.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6119" y="3387179"/>
            <a:ext cx="4722763" cy="922660"/>
          </a:xfrm>
          <a:prstGeom prst="roundRect">
            <a:avLst>
              <a:gd name="adj" fmla="val 5647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4855" y="351591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New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4855" y="3784178"/>
            <a:ext cx="44652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83 customers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first-time buyers with high potential for nurturing into the returning and loyal segments.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0126"/>
            <a:ext cx="465378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Subscribers vs. Non-Subscribers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90861"/>
            <a:ext cx="4347270" cy="217601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353619" y="2224534"/>
            <a:ext cx="752624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00000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956" y="2247379"/>
            <a:ext cx="57150" cy="571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463156" y="2238821"/>
            <a:ext cx="609749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2A2742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Subscribed (Yes)·27%</a:t>
            </a:r>
            <a:endParaRPr lang="en-US" sz="450" dirty="0"/>
          </a:p>
        </p:txBody>
      </p:sp>
      <p:sp>
        <p:nvSpPr>
          <p:cNvPr id="7" name="Text 3"/>
          <p:cNvSpPr/>
          <p:nvPr/>
        </p:nvSpPr>
        <p:spPr>
          <a:xfrm>
            <a:off x="3898999" y="2238821"/>
            <a:ext cx="173906" cy="74265"/>
          </a:xfrm>
          <a:prstGeom prst="rect">
            <a:avLst/>
          </a:prstGeom>
          <a:noFill/>
          <a:ln/>
        </p:spPr>
        <p:txBody>
          <a:bodyPr wrap="none" lIns="0" tIns="2286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2A2742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·27%</a:t>
            </a:r>
            <a:endParaRPr lang="en-US" sz="450" dirty="0"/>
          </a:p>
        </p:txBody>
      </p:sp>
      <p:sp>
        <p:nvSpPr>
          <p:cNvPr id="8" name="Text 4"/>
          <p:cNvSpPr/>
          <p:nvPr/>
        </p:nvSpPr>
        <p:spPr>
          <a:xfrm>
            <a:off x="3921844" y="2238821"/>
            <a:ext cx="15329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2A2742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450" dirty="0"/>
          </a:p>
        </p:txBody>
      </p:sp>
      <p:sp>
        <p:nvSpPr>
          <p:cNvPr id="9" name="Shape 5"/>
          <p:cNvSpPr/>
          <p:nvPr/>
        </p:nvSpPr>
        <p:spPr>
          <a:xfrm>
            <a:off x="3353619" y="2365474"/>
            <a:ext cx="855018" cy="102840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4763">
            <a:solidFill>
              <a:srgbClr val="00000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956" y="2388319"/>
            <a:ext cx="57150" cy="571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63156" y="2379762"/>
            <a:ext cx="712143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2A2742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Not Subscribed (No)·73%</a:t>
            </a:r>
            <a:endParaRPr lang="en-US" sz="450" dirty="0"/>
          </a:p>
        </p:txBody>
      </p:sp>
      <p:sp>
        <p:nvSpPr>
          <p:cNvPr id="12" name="Text 7"/>
          <p:cNvSpPr/>
          <p:nvPr/>
        </p:nvSpPr>
        <p:spPr>
          <a:xfrm>
            <a:off x="4001393" y="2379762"/>
            <a:ext cx="173906" cy="74265"/>
          </a:xfrm>
          <a:prstGeom prst="rect">
            <a:avLst/>
          </a:prstGeom>
          <a:noFill/>
          <a:ln/>
        </p:spPr>
        <p:txBody>
          <a:bodyPr wrap="none" lIns="0" tIns="2286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2A2742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·73%</a:t>
            </a:r>
            <a:endParaRPr lang="en-US" sz="450" dirty="0"/>
          </a:p>
        </p:txBody>
      </p:sp>
      <p:sp>
        <p:nvSpPr>
          <p:cNvPr id="13" name="Text 8"/>
          <p:cNvSpPr/>
          <p:nvPr/>
        </p:nvSpPr>
        <p:spPr>
          <a:xfrm>
            <a:off x="4024238" y="2379762"/>
            <a:ext cx="15329" cy="74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"/>
              </a:lnSpc>
              <a:buNone/>
            </a:pPr>
            <a:r>
              <a:rPr lang="en-US" sz="450" dirty="0">
                <a:solidFill>
                  <a:srgbClr val="2A2742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450" dirty="0"/>
          </a:p>
        </p:txBody>
      </p:sp>
      <p:sp>
        <p:nvSpPr>
          <p:cNvPr id="14" name="Text 9"/>
          <p:cNvSpPr/>
          <p:nvPr/>
        </p:nvSpPr>
        <p:spPr>
          <a:xfrm>
            <a:off x="5150718" y="122768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150718" y="1545506"/>
            <a:ext cx="3501851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Only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27%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of customers hold an active subscription, yet subscribers and non-subscribers spend nearly the same on average.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150718" y="2280419"/>
            <a:ext cx="3501851" cy="1486421"/>
          </a:xfrm>
          <a:prstGeom prst="roundRect">
            <a:avLst>
              <a:gd name="adj" fmla="val 350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279678" y="2364358"/>
            <a:ext cx="62269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Status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6155085" y="2364358"/>
            <a:ext cx="6203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Customers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7028111" y="2364358"/>
            <a:ext cx="62031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Avg. Spend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7901136" y="2364358"/>
            <a:ext cx="62269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279678" y="2924398"/>
            <a:ext cx="62269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Subscribed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155085" y="2924398"/>
            <a:ext cx="62031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1,053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7028111" y="2924398"/>
            <a:ext cx="62031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$59.49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7901136" y="2924398"/>
            <a:ext cx="62269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$62,645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279678" y="3285976"/>
            <a:ext cx="62269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Not Subscribed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155085" y="3285976"/>
            <a:ext cx="62031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2,847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7028111" y="3285976"/>
            <a:ext cx="62031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$59.87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7901136" y="3285976"/>
            <a:ext cx="62269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$170,436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5150718" y="3906366"/>
            <a:ext cx="3501851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large non-subscriber base represents a major opportunity to convert casual buyers into loyal, subscription-driven customers.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8048"/>
            <a:ext cx="711644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Top-Rated Products &amp; Discount-Dependent Items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75606"/>
            <a:ext cx="212154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Top 5 Products by Avg. Rating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608981"/>
            <a:ext cx="3924598" cy="2150418"/>
          </a:xfrm>
          <a:prstGeom prst="roundRect">
            <a:avLst>
              <a:gd name="adj" fmla="val 242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1613743"/>
            <a:ext cx="3915073" cy="3568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24855" y="1692920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Product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584772" y="1692920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Avg. Rating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0881" y="1970559"/>
            <a:ext cx="3915073" cy="3568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24855" y="2049735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Gloves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84772" y="2049735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3.86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0881" y="2327374"/>
            <a:ext cx="3915073" cy="3568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24855" y="2406551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Sandals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84772" y="2406551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3.84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0881" y="2684190"/>
            <a:ext cx="3915073" cy="3568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24855" y="2763366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Boots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84772" y="2763366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3.82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0881" y="3041005"/>
            <a:ext cx="3915073" cy="3568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24855" y="3120182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84772" y="3120182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3.80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0881" y="3397821"/>
            <a:ext cx="3915073" cy="3568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24855" y="3476997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Skirt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84772" y="3476997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3.78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28046" y="1275606"/>
            <a:ext cx="259987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Top 5 Discount-Dependent Products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28046" y="1608981"/>
            <a:ext cx="3924598" cy="2150418"/>
          </a:xfrm>
          <a:prstGeom prst="roundRect">
            <a:avLst>
              <a:gd name="adj" fmla="val 242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32809" y="1613743"/>
            <a:ext cx="3915073" cy="3568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56783" y="1692920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Product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16700" y="1692920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Discount Rate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32809" y="1970559"/>
            <a:ext cx="3915073" cy="3568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56783" y="2049735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16700" y="2049735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50.00%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32809" y="2327374"/>
            <a:ext cx="3915073" cy="3568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856783" y="2406551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Sneakers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16700" y="2406551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49.66%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32809" y="2684190"/>
            <a:ext cx="3915073" cy="3568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856783" y="2763366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Coat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16700" y="2763366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49.07%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32809" y="3041005"/>
            <a:ext cx="3915073" cy="3568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856783" y="3120182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Sweater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16700" y="3120182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48.17%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32809" y="3397821"/>
            <a:ext cx="3915073" cy="3568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856783" y="3476997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Pants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16700" y="3476997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47.37%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6119" y="4038451"/>
            <a:ext cx="8151763" cy="527000"/>
          </a:xfrm>
          <a:prstGeom prst="roundRect">
            <a:avLst>
              <a:gd name="adj" fmla="val 9886"/>
            </a:avLst>
          </a:prstGeom>
          <a:solidFill>
            <a:srgbClr val="FCF2B5"/>
          </a:solidFill>
          <a:ln/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4222998"/>
            <a:ext cx="155004" cy="123974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899071" y="4193381"/>
            <a:ext cx="76248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Hat appears in both lists — it is highly rated yet heavily discount-dependent, signaling a pricing strategy review opportunity.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8588"/>
            <a:ext cx="564043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Revenue by Age Group &amp; Repeat Buyers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41698"/>
            <a:ext cx="3924598" cy="20242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34273" y="1698278"/>
            <a:ext cx="16051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62.1k</a:t>
            </a:r>
            <a:endParaRPr lang="en-US" sz="400" dirty="0"/>
          </a:p>
        </p:txBody>
      </p:sp>
      <p:sp>
        <p:nvSpPr>
          <p:cNvPr id="5" name="Text 2"/>
          <p:cNvSpPr/>
          <p:nvPr/>
        </p:nvSpPr>
        <p:spPr>
          <a:xfrm>
            <a:off x="3871597" y="2125712"/>
            <a:ext cx="16051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59.2k</a:t>
            </a:r>
            <a:endParaRPr lang="en-US" sz="400" dirty="0"/>
          </a:p>
        </p:txBody>
      </p:sp>
      <p:sp>
        <p:nvSpPr>
          <p:cNvPr id="6" name="Text 3"/>
          <p:cNvSpPr/>
          <p:nvPr/>
        </p:nvSpPr>
        <p:spPr>
          <a:xfrm>
            <a:off x="3746046" y="2553146"/>
            <a:ext cx="116532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56k</a:t>
            </a:r>
            <a:endParaRPr lang="en-US" sz="400" dirty="0"/>
          </a:p>
        </p:txBody>
      </p:sp>
      <p:sp>
        <p:nvSpPr>
          <p:cNvPr id="7" name="Text 4"/>
          <p:cNvSpPr/>
          <p:nvPr/>
        </p:nvSpPr>
        <p:spPr>
          <a:xfrm>
            <a:off x="3690327" y="2980581"/>
            <a:ext cx="160511" cy="90488"/>
          </a:xfrm>
          <a:prstGeom prst="rect">
            <a:avLst/>
          </a:prstGeom>
          <a:noFill/>
          <a:ln/>
        </p:spPr>
        <p:txBody>
          <a:bodyPr wrap="square" lIns="19050" tIns="14288" rIns="14288" bIns="19050" rtlCol="0" anchor="t"/>
          <a:lstStyle/>
          <a:p>
            <a:pPr algn="l" indent="0" marL="0">
              <a:lnSpc>
                <a:spcPts val="400"/>
              </a:lnSpc>
              <a:buNone/>
            </a:pPr>
            <a:r>
              <a:rPr lang="en-US" sz="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55.8k</a:t>
            </a:r>
            <a:endParaRPr lang="en-US" sz="400" dirty="0"/>
          </a:p>
        </p:txBody>
      </p:sp>
      <p:sp>
        <p:nvSpPr>
          <p:cNvPr id="8" name="Text 5"/>
          <p:cNvSpPr/>
          <p:nvPr/>
        </p:nvSpPr>
        <p:spPr>
          <a:xfrm>
            <a:off x="4728046" y="1426146"/>
            <a:ext cx="218606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Repeat Buyers &amp; Subscriptions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28046" y="1743968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Among customers with more than 5 purchases, the majority are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not subscribed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revealing a gap between loyalty behavior and formal subscription uptake.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28046" y="2478881"/>
            <a:ext cx="3924598" cy="1287959"/>
          </a:xfrm>
          <a:prstGeom prst="roundRect">
            <a:avLst>
              <a:gd name="adj" fmla="val 404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56783" y="2562820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Subscription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816700" y="2562820"/>
            <a:ext cx="170720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Repeat Buyers (&gt;5 purchases)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856783" y="3122861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816700" y="3122861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2,518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56783" y="3484438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Yes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816700" y="3484438"/>
            <a:ext cx="170720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958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728046" y="3906366"/>
            <a:ext cx="392459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Young Adults lead in revenue at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$62,143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, making them the most valuable age segment to target.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5393" y="326752"/>
            <a:ext cx="3185964" cy="333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Top Products by Category</a:t>
            </a:r>
            <a:endParaRPr lang="en-US" sz="2050" dirty="0"/>
          </a:p>
        </p:txBody>
      </p:sp>
      <p:sp>
        <p:nvSpPr>
          <p:cNvPr id="4" name="Shape 1"/>
          <p:cNvSpPr/>
          <p:nvPr/>
        </p:nvSpPr>
        <p:spPr>
          <a:xfrm>
            <a:off x="3855393" y="797198"/>
            <a:ext cx="4862215" cy="983828"/>
          </a:xfrm>
          <a:prstGeom prst="roundRect">
            <a:avLst>
              <a:gd name="adj" fmla="val 4551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966716" y="908521"/>
            <a:ext cx="1332458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Accessories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966716" y="1129978"/>
            <a:ext cx="4639568" cy="539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Jewelry — 171 orders</a:t>
            </a:r>
            <a:endParaRPr lang="en-US" sz="800" dirty="0"/>
          </a:p>
          <a:p>
            <a:pPr algn="l"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Sunglasses — 161 orders</a:t>
            </a:r>
            <a:endParaRPr lang="en-US" sz="800" dirty="0"/>
          </a:p>
          <a:p>
            <a:pPr algn="l"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Belt — 161 orders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855393" y="1872630"/>
            <a:ext cx="4862215" cy="983828"/>
          </a:xfrm>
          <a:prstGeom prst="roundRect">
            <a:avLst>
              <a:gd name="adj" fmla="val 4551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66716" y="1983953"/>
            <a:ext cx="1332458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Clothing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966716" y="2205410"/>
            <a:ext cx="4639568" cy="539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Blouse — 171 orders</a:t>
            </a:r>
            <a:endParaRPr lang="en-US" sz="800" dirty="0"/>
          </a:p>
          <a:p>
            <a:pPr algn="l"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Pants — 171 orders</a:t>
            </a:r>
            <a:endParaRPr lang="en-US" sz="800" dirty="0"/>
          </a:p>
          <a:p>
            <a:pPr algn="l"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Shirt — 169 orders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855393" y="2948062"/>
            <a:ext cx="4862215" cy="983828"/>
          </a:xfrm>
          <a:prstGeom prst="roundRect">
            <a:avLst>
              <a:gd name="adj" fmla="val 4551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66716" y="3059385"/>
            <a:ext cx="1332458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Footwear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966716" y="3280842"/>
            <a:ext cx="4639568" cy="539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Sandals — 160 orders</a:t>
            </a:r>
            <a:endParaRPr lang="en-US" sz="800" dirty="0"/>
          </a:p>
          <a:p>
            <a:pPr algn="l"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Shoes — 150 orders</a:t>
            </a:r>
            <a:endParaRPr lang="en-US" sz="800" dirty="0"/>
          </a:p>
          <a:p>
            <a:pPr algn="l"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Sneakers — 145 orders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855393" y="4023494"/>
            <a:ext cx="4862215" cy="793254"/>
          </a:xfrm>
          <a:prstGeom prst="roundRect">
            <a:avLst>
              <a:gd name="adj" fmla="val 5644"/>
            </a:avLst>
          </a:prstGeom>
          <a:solidFill>
            <a:srgbClr val="E9E6FA"/>
          </a:solidFill>
          <a:ln w="4763">
            <a:solidFill>
              <a:srgbClr val="BDB8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66716" y="4134817"/>
            <a:ext cx="1332458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Outerwear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966716" y="4356274"/>
            <a:ext cx="4639568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Jacket — 163 orders</a:t>
            </a:r>
            <a:endParaRPr lang="en-US" sz="800" dirty="0"/>
          </a:p>
          <a:p>
            <a:pPr algn="l" marL="342900" indent="-342900">
              <a:lnSpc>
                <a:spcPts val="1200"/>
              </a:lnSpc>
              <a:buSzPct val="100000"/>
              <a:buChar char="•"/>
            </a:pPr>
            <a:r>
              <a:rPr lang="en-US" sz="8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Coat — 161 orders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901" y="360387"/>
            <a:ext cx="3810149" cy="3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Business Recommendations</a:t>
            </a:r>
            <a:endParaRPr lang="en-US" sz="2300" dirty="0"/>
          </a:p>
        </p:txBody>
      </p:sp>
      <p:sp>
        <p:nvSpPr>
          <p:cNvPr id="4" name="Shape 1"/>
          <p:cNvSpPr/>
          <p:nvPr/>
        </p:nvSpPr>
        <p:spPr>
          <a:xfrm>
            <a:off x="472901" y="898847"/>
            <a:ext cx="4769197" cy="886569"/>
          </a:xfrm>
          <a:prstGeom prst="roundRect">
            <a:avLst>
              <a:gd name="adj" fmla="val 7735"/>
            </a:avLst>
          </a:prstGeom>
          <a:solidFill>
            <a:srgbClr val="FAFAFA">
              <a:alpha val="95000"/>
            </a:srgbClr>
          </a:solidFill>
          <a:ln w="14288">
            <a:solidFill>
              <a:srgbClr val="BDB8D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8614" y="898847"/>
            <a:ext cx="57150" cy="886569"/>
          </a:xfrm>
          <a:prstGeom prst="roundRect">
            <a:avLst>
              <a:gd name="adj" fmla="val 86890"/>
            </a:avLst>
          </a:prstGeom>
          <a:solidFill>
            <a:srgbClr val="5E4CE6"/>
          </a:solidFill>
          <a:ln/>
        </p:spPr>
      </p:sp>
      <p:sp>
        <p:nvSpPr>
          <p:cNvPr id="6" name="Text 3"/>
          <p:cNvSpPr/>
          <p:nvPr/>
        </p:nvSpPr>
        <p:spPr>
          <a:xfrm>
            <a:off x="648221" y="1031304"/>
            <a:ext cx="14778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Boost Subscriptions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8221" y="1283568"/>
            <a:ext cx="4461421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Promote exclusive benefits to convert the </a:t>
            </a:r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73%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non-subscriber base, especially high-frequency repeat buyers who already behave like subscribers.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72901" y="1898079"/>
            <a:ext cx="4769197" cy="886569"/>
          </a:xfrm>
          <a:prstGeom prst="roundRect">
            <a:avLst>
              <a:gd name="adj" fmla="val 7735"/>
            </a:avLst>
          </a:prstGeom>
          <a:solidFill>
            <a:srgbClr val="FAFAFA">
              <a:alpha val="95000"/>
            </a:srgbClr>
          </a:solidFill>
          <a:ln w="14288">
            <a:solidFill>
              <a:srgbClr val="BDB8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8614" y="1898079"/>
            <a:ext cx="57150" cy="886569"/>
          </a:xfrm>
          <a:prstGeom prst="roundRect">
            <a:avLst>
              <a:gd name="adj" fmla="val 86890"/>
            </a:avLst>
          </a:prstGeom>
          <a:solidFill>
            <a:srgbClr val="5E4CE6"/>
          </a:solidFill>
          <a:ln/>
        </p:spPr>
      </p:sp>
      <p:sp>
        <p:nvSpPr>
          <p:cNvPr id="10" name="Text 7"/>
          <p:cNvSpPr/>
          <p:nvPr/>
        </p:nvSpPr>
        <p:spPr>
          <a:xfrm>
            <a:off x="648221" y="2030537"/>
            <a:ext cx="1927994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Customer Loyalty Programs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8221" y="2282800"/>
            <a:ext cx="4461421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Reward returning customers to accelerate their move into the </a:t>
            </a:r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Loyal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segment and reduce churn among the 701 returning buyers.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2901" y="2897312"/>
            <a:ext cx="4769197" cy="886569"/>
          </a:xfrm>
          <a:prstGeom prst="roundRect">
            <a:avLst>
              <a:gd name="adj" fmla="val 7735"/>
            </a:avLst>
          </a:prstGeom>
          <a:solidFill>
            <a:srgbClr val="FAFAFA">
              <a:alpha val="95000"/>
            </a:srgbClr>
          </a:solidFill>
          <a:ln w="14288">
            <a:solidFill>
              <a:srgbClr val="BDB8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8614" y="2897312"/>
            <a:ext cx="57150" cy="886569"/>
          </a:xfrm>
          <a:prstGeom prst="roundRect">
            <a:avLst>
              <a:gd name="adj" fmla="val 86890"/>
            </a:avLst>
          </a:prstGeom>
          <a:solidFill>
            <a:srgbClr val="5E4CE6"/>
          </a:solidFill>
          <a:ln/>
        </p:spPr>
      </p:sp>
      <p:sp>
        <p:nvSpPr>
          <p:cNvPr id="14" name="Text 11"/>
          <p:cNvSpPr/>
          <p:nvPr/>
        </p:nvSpPr>
        <p:spPr>
          <a:xfrm>
            <a:off x="648221" y="3029769"/>
            <a:ext cx="1571402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Review Discount Policy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8221" y="3282032"/>
            <a:ext cx="4461421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Products like Hat and Sneakers have near-</a:t>
            </a:r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50% discount rates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 Balance promotional boosts with margin protection through targeted discount caps.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72901" y="3896544"/>
            <a:ext cx="4769197" cy="886569"/>
          </a:xfrm>
          <a:prstGeom prst="roundRect">
            <a:avLst>
              <a:gd name="adj" fmla="val 7735"/>
            </a:avLst>
          </a:prstGeom>
          <a:solidFill>
            <a:srgbClr val="FAFAFA">
              <a:alpha val="95000"/>
            </a:srgbClr>
          </a:solidFill>
          <a:ln w="14288">
            <a:solidFill>
              <a:srgbClr val="BDB8D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8614" y="3896544"/>
            <a:ext cx="57150" cy="886569"/>
          </a:xfrm>
          <a:prstGeom prst="roundRect">
            <a:avLst>
              <a:gd name="adj" fmla="val 86890"/>
            </a:avLst>
          </a:prstGeom>
          <a:solidFill>
            <a:srgbClr val="5E4CE6"/>
          </a:solidFill>
          <a:ln/>
        </p:spPr>
      </p:sp>
      <p:sp>
        <p:nvSpPr>
          <p:cNvPr id="18" name="Text 15"/>
          <p:cNvSpPr/>
          <p:nvPr/>
        </p:nvSpPr>
        <p:spPr>
          <a:xfrm>
            <a:off x="648221" y="4029001"/>
            <a:ext cx="2871267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Product Positioning &amp; Targeted Marketing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48221" y="4281264"/>
            <a:ext cx="4461421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Highlight top-rated products (Gloves, Sandals, Boots) in campaigns. Focus marketing spend on </a:t>
            </a:r>
            <a:pPr algn="l" indent="0" marL="0">
              <a:lnSpc>
                <a:spcPts val="1450"/>
              </a:lnSpc>
              <a:buNone/>
            </a:pPr>
            <a:r>
              <a:rPr lang="en-US" sz="9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Young Adults</a:t>
            </a:r>
            <a:pPr algn="l" indent="0" marL="0">
              <a:lnSpc>
                <a:spcPts val="1450"/>
              </a:lnSpc>
              <a:buNone/>
            </a:pPr>
            <a:r>
              <a:rPr lang="en-US" sz="9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and express-shipping users for maximum ROI.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2026-05-14T19:44:49Z</dcterms:created>
  <dcterms:modified xsi:type="dcterms:W3CDTF">2026-05-14T19:44:49Z</dcterms:modified>
</cp:coreProperties>
</file>